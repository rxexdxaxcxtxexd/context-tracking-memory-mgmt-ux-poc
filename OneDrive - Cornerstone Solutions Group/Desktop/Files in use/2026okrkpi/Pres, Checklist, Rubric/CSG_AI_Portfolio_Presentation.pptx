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state: No systematic approach to AI tooling. Teams experiment independently with no knowledge sharing or reuse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 points identified through team feedback. These represent 15-25 hours per team per sprint of manual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opportunity: First-mover advantage in portfolio approach. Most firms doing ad-hoc tools, not systematic portfolios.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Vision: Systematic portfolio approach, not ad-hoc experiments. Focus on reuse and compounding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Flywheel effect: Tool #10 takes 1/3 the time of Tool #1 due to shared components and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Differentiation: Portfolio thinking, not one-off scripts. This is systematic capability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Governance: Anti-fragile approach that evolves with AI innovation. Controls enable, not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OKRs: Balanced across portfolio building, delivery acceleration, quality improvement,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Roadmap: Phased approach starting with quick wins, building to white-label patterns by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categories: Comprehensive coverage across SDLC. Each category addresses specific pain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Prioritization: Data-driven approach to tool selection. Ensures portfolio focus on high-impact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structure: Clear requirements for portfolio inclusion. Regular review cycles ensure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study: First tool proves the model. Quick win with high visibility and clear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framework: Simple, actionable KPIs. Monthly tracking with quarterly case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results: Q1 targets establish baseline for scaling in Q2-Q4.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 needs: Luke's time is primary investment. Minimal additional resources required in 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 deliverables: Clear exit criteria. Foundation for Q2-Q4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criteria: Clear milestones from Q1 foundation to Q4 white-label patterns. Measurable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Reinforce the strategic importance. Internal + external impact.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CSG AI Tooling Portfolio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70C0"/>
                </a:solidFill>
              </a:defRPr>
            </a:pPr>
            <a:r>
              <a:t>Transforming Delivery Through Strategic AI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Luke Layden, Solution Delivery Manager |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Problem: Fragmented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Current State Challenges: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Ad-hoc AI experiments with no reuse or standards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Teams rebuilding similar solutions independently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No governance framework = security and compliance risk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Inconsistent quality across AI-generated outputs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FF7F00"/>
                </a:solidFill>
              </a:defRPr>
            </a:pPr>
            <a:r>
              <a:t>Impact: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Zero compounding value from AI investments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CSG falling behind competitors in AI capability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Delivery teams lack tools to accelerate SDLC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Pain Points Across Delivery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Planning &amp; Requirements: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8-12 hours per requirements doc, inconsistent format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Development &amp; Testing: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Manual test creation = 40% of sprint capacity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No automated UI test generation from designs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Documentation &amp; Reporting: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2-3 hours per sprint report (manual Jira extraction)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Knowledge base creation takes weeks per project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Project Management: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Dashboard updates lag by 1-2 weeks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No predictive analytics for project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Market Opportunity: The AI Tooling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Industry Trends: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AI-assisted development growing 300% YoY (GitHub Copilot usage)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Consulting firms investing heavily in proprietary AI tools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Clients increasingly requesting AI-enhanced delivery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FF7F00"/>
                </a:solidFill>
              </a:defRPr>
            </a:pPr>
            <a:r>
              <a:t>CSG Opportunity: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Differentiate through proven AI delivery capability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White-label tools become revenue stream (Q3-Q4 2026)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Win fixed-price AI projects with competitive advantage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Position as innovation leader in consulting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Solution: AI Tooling Portfolio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Vision:</a:t>
            </a:r>
          </a:p>
          <a:p>
            <a:pPr lvl="1">
              <a:defRPr sz="2000">
                <a:solidFill>
                  <a:srgbClr val="333333"/>
                </a:solidFill>
              </a:defRPr>
            </a:pPr>
            <a:r>
              <a:t>Transform CSG delivery through curated portfolio of AI-driven tools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Strategic Pillars: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1. Compounding Value - Each tool makes next tool easier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2. Portfolio Approach - Reusable &gt; One-off solutions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3. Enterprise Governance - Anti-fragile controls from day 1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4. Measured Impact - Data-driven adoption and ROI tracking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FF7F00"/>
                </a:solidFill>
              </a:defRPr>
            </a:pPr>
            <a:r>
              <a:t>Outcome:</a:t>
            </a:r>
          </a:p>
          <a:p>
            <a:pPr lvl="1">
              <a:defRPr sz="2000">
                <a:solidFill>
                  <a:srgbClr val="FF7F00"/>
                </a:solidFill>
              </a:defRPr>
            </a:pPr>
            <a:r>
              <a:t>10 production tools, 40% project adoption, 2,000 hours saved annually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Portfolio Flywheel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How the Portfolio Compounds: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1. Interview Teams → Identify pain points &amp; opportunities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2. Build POC Tools → Solve specific workflow friction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3. Extract Components → Shared libraries (Jira, API patterns)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4. Measure Impact → Usage metrics + time savings validation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5. Scale &amp; Reuse → Deploy across teams, white-label patterns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FF7F00"/>
                </a:solidFill>
              </a:defRPr>
            </a:pPr>
            <a:r>
              <a:t>6. Repeat → Each cycle faster with shared components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Makes This Different?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CSG Portfolio Approach vs. Ad-Hoc Tools: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Reusability Built-In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Every tool designed for multi-team use, not project-specific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Governed from Day 1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CSG AI Standards checklist + human review gates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Measured Impact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Usage tracking + baseline measurement + ROI validation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Research to Production Pipeline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Weekly AI research → Monthly tool output → Quarterly case studies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Anti-Fragile 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CSG AI Standards Checklist v1.0: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Data Security: No client data in public APIs, secure key storage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Intellectual Property: Human review before use, clear IP ownership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Bias &amp; Fairness: Diverse testing, bias detection, escalation paths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Human Review: 100% of critical outputs, audit trails maintained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Incident Response: Process for reporting + corrective actions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FF7F00"/>
                </a:solidFill>
              </a:defRPr>
            </a:pPr>
            <a:r>
              <a:t>2026 Target: 100% portfolio compliance, 0 high-severity incidents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2026 OKRs: Four Strategic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O1: Build Compounding AI Tooling Portfolio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KR1.1: 10 production tools shipped | KR1.2: 5 tools reused by ≥2 teams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KR1.3: 6 shared components created | KR1.4: 2 client-ready patterns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O2: Accelerate Delivery Across SDLC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KR2.1: 20 workflow interviews | KR2.2: 30% faster execution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KR2.3: 40% project adoption | KR2.4: 2,000 hours saved/year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O3: Increase Quality While Reducing Friction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KR3.1: ≥75% acceptance rate | KR3.2: CSAT ≥4.3/5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KR3.3: ≥85% template adherence | KR3.4: 40% fewer revisions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O4: Deploy Anti-Fragile AI Governance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KR4.1: 100% compliance | KR4.2: 0 high-severity incidents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2026 Quarterly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7F00"/>
                </a:solidFill>
              </a:defRPr>
            </a:pPr>
            <a:r>
              <a:t>Q1: Foundation (2 tools)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Sprint reporting automation, Portfolio catalog + governance standards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Q2: Quick Wins (3 tools → 5 total)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UI test generation, Requirements gathering assistant, First shared component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Q3: Knowledge &amp; Testing (3 tools → 8 total)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Knowledge base productization, Test automation suite, Doc auto-generation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Q4: Advanced &amp; White-Label (2 tools → 10 total)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PM automation, Research tools, 2 client-ready white-label patterns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FF7F00"/>
                </a:solidFill>
              </a:defRPr>
            </a:pPr>
            <a:r>
              <a:t>Target: 40% project adoption by Q4, 2,000 hours saved annually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10 Tools Across SDLC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Planning &amp; Requirements (2 tools):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Requirements gathering assistant, Sprint planning optimizer</a:t>
            </a:r>
          </a:p>
          <a:p>
            <a:pPr>
              <a:defRPr sz="60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333333"/>
                </a:solidFill>
              </a:defRPr>
            </a:pPr>
            <a:r>
              <a:t>Development &amp; Testing (3 tools):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UI test generation, Test automation suite, Doc auto-generation</a:t>
            </a:r>
          </a:p>
          <a:p>
            <a:pPr>
              <a:defRPr sz="60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333333"/>
                </a:solidFill>
              </a:defRPr>
            </a:pPr>
            <a:r>
              <a:t>Documentation &amp; Knowledge (2 tools):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Knowledge base productization, API documentation generator</a:t>
            </a:r>
          </a:p>
          <a:p>
            <a:pPr>
              <a:defRPr sz="60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333333"/>
                </a:solidFill>
              </a:defRPr>
            </a:pPr>
            <a:r>
              <a:t>Project Management (2 tools):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Sprint reporting automation, PM dashboard automation</a:t>
            </a:r>
          </a:p>
          <a:p>
            <a:pPr>
              <a:defRPr sz="60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333333"/>
                </a:solidFill>
              </a:defRPr>
            </a:pPr>
            <a:r>
              <a:t>Research &amp; Innovation (1 tool):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Research acceleration tools (competitive analysis, tech stack research)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Prioritization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Every Tool Scored on 6 Factors (Weighted):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1. Time Saved (25%): 1=&lt;2hrs/week → 5=&gt;20hrs/week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2. Revenue/Margin Impact (20%): 1=none → 5=direct revenue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3. Strategic Alignment (15%): 1=nice-to-have → 5=CEO priority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4. Reusability (20%): 1=one-off → 5=multi-team/multi-project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5. Value Expansion (10%): 1=maintains status quo → 5=new capability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6. Governance Complexity (-10%): 1=simple → 5=high risk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FF7F00"/>
                </a:solidFill>
              </a:defRPr>
            </a:pPr>
            <a:r>
              <a:t>Minimum Portfolio Score: 3.5/5.0 weighted average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Portfolio Governance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Required for Portfolio Inclusion: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Clear use case + problem statement + owner documented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CSG AI Standards checklist passed (data, review, audit)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Telemetry enabled (usage tracking + event logging)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Human review step defined and enforced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Documentation: README + usage guide + troubleshooting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Maintenance level stated: Supported / Best-effort / Experimental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FF7F00"/>
                </a:solidFill>
              </a:defRPr>
            </a:pPr>
            <a:r>
              <a:t>Portfolio Review Cadence: Monthly (adoption + incidents) | Quarterly (OKRs)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Proof: CSG Sprint Reporter (Q4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First Production Tool - BargeOps Team: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Problem: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2-3 hours per sprint extracting Jira data + meeting insights manually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Solution: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Python tool: Jira API + Fathom API → Auto-generate sprint reports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No AI APIs required (free to run, no rate limits)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FF7F00"/>
                </a:solidFill>
              </a:defRPr>
            </a:pPr>
            <a:r>
              <a:t>Impact:</a:t>
            </a:r>
          </a:p>
          <a:p>
            <a:pPr lvl="1">
              <a:defRPr sz="1600">
                <a:solidFill>
                  <a:srgbClr val="FF7F00"/>
                </a:solidFill>
              </a:defRPr>
            </a:pPr>
            <a:r>
              <a:t>Time saved: 2-3 hours per sprint → ~50 hours per year per team</a:t>
            </a:r>
          </a:p>
          <a:p>
            <a:pPr lvl="1">
              <a:defRPr sz="1600">
                <a:solidFill>
                  <a:srgbClr val="FF7F00"/>
                </a:solidFill>
              </a:defRPr>
            </a:pPr>
            <a:r>
              <a:t>Reusability: High (works for any CSG project with Jira + Fathom)</a:t>
            </a:r>
          </a:p>
          <a:p>
            <a:pPr lvl="1">
              <a:defRPr sz="1600">
                <a:solidFill>
                  <a:srgbClr val="FF7F00"/>
                </a:solidFill>
              </a:defRPr>
            </a:pPr>
            <a:r>
              <a:t>Status: Production, actively used by BargeOps team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KPI Dashboard: Track What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Monthly Adoption Metrics: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WAU/MAU per tool (Target: 60% by Q4)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Usage frequency (Target: 3+ events/user/week)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Project penetration (Target: 40% by Q4)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Quarterly Efficiency Metrics: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Hours saved = (baseline mins - post mins) × usage count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Cycle-time delta (track SDLC phase reductions)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Quality Metrics (Per Tool):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Accept/Edit/Reject rates (Target: 75/20/5 split)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Rework cycles (Target: &lt;1.5 avg revisions)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Q1 2026 Pilot Results (Projected)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Target Outcomes by End of Q1: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2 tools in production (Sprint Reporter + 1 new tool)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10+ active users across 2+ teams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5 workflow interviews completed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Governance standards published (CSG AI Standards v1.0)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First shared component released (Jira API wrapper)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100% portfolio tools certified for governance compliance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Baseline Established: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Time-on-task measurement complete for top 8 workflows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Usage tracking instrumentation deployed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Resource Needs: Q1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Luke Layden Time Allocation: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40% - AI Tooling Portfolio (16 hrs/week)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Workflow interviews, tool building, governance docs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40% - BargeOps SDM (16 hrs/week)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Sprint planning, stakeholder management, delivery oversight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20% - AI Research &amp; Learning (8 hrs/week)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Weekly research → portfolio pipeline, certifications, community engagement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FF7F00"/>
                </a:solidFill>
              </a:defRPr>
            </a:pPr>
            <a:r>
              <a:t>Support Needed: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IT support for instrumentation platform (Q2)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Communications support for Launch &amp; Learn sessions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Q1 2026 Deliverables (Exit Criteria)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Foundation: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Portfolio catalog structure (GitHub repo or SharePoint)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CSG AI Standards checklist v1.0 published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Tool intake rubric (prioritization scoring)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Tools &amp; Components: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2 pilot tools in production (Sprint Reporter + 1 new)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First shared component released (Jira API wrapper)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Research &amp; Measurement: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5 workflow interviews completed (pain points documented)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Baseline time-on-task measurements for top 8 workflows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Usage tracking instrumentation deployed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Enablement: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Launch &amp; Learn #1: "AI at CSG: Vision &amp; Standards"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Does Success Look Like?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Q1 Success (March 31, 2026):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2 tools in production, 10+ active users, governance standards published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Q2 Success (June 30, 2026):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5 total tools, 20+ active users, first shared component reused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FF7F00"/>
                </a:solidFill>
              </a:defRPr>
            </a:pPr>
            <a:r>
              <a:t>Q4 Success (December 31, 2026):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10 production tools deployed across CSG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40% of eligible projects using ≥1 tool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2,000 hours saved annually (validated)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2 client-ready white-label patterns</a:t>
            </a:r>
          </a:p>
          <a:p>
            <a:pPr lvl="1">
              <a:defRPr sz="1800">
                <a:solidFill>
                  <a:srgbClr val="FF7F00"/>
                </a:solidFill>
              </a:defRPr>
            </a:pPr>
            <a:r>
              <a:t>100% governance compliance, 0 high-severity incidents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2026 Win: CSG as AI Tooling Leader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F00"/>
                </a:solidFill>
              </a:defRPr>
            </a:pPr>
            <a:r>
              <a:t>Why This Matters: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Internal Impact: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Faster delivery, higher quality, happier teams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2,000 hours returned to high-value work annually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External Impact: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Differentiation in competitive consulting market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White-label patterns become new revenue stream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Position CSG as innovation leader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2800" b="1">
                <a:solidFill>
                  <a:srgbClr val="FF7F00"/>
                </a:solidFill>
              </a:defRPr>
            </a:pPr>
            <a:r>
              <a:t>Let's build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